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413" r:id="rId3"/>
    <p:sldId id="429" r:id="rId4"/>
    <p:sldId id="435" r:id="rId5"/>
    <p:sldId id="444" r:id="rId6"/>
    <p:sldId id="445" r:id="rId7"/>
    <p:sldId id="451" r:id="rId8"/>
    <p:sldId id="447" r:id="rId9"/>
    <p:sldId id="443" r:id="rId10"/>
    <p:sldId id="446" r:id="rId11"/>
    <p:sldId id="450" r:id="rId12"/>
    <p:sldId id="452" r:id="rId13"/>
    <p:sldId id="448" r:id="rId14"/>
    <p:sldId id="449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E40A68-62B4-D9BE-7C85-DB5454E70CC4}" name="Arnav T" initials="AT" userId="0bd93195a0a198d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0F3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CB6001-9FEF-4CAE-B960-7C906CE938CC}" v="5" dt="2024-10-04T07:13:03.278"/>
    <p1510:client id="{64A3D58B-331A-4562-F63E-073115723393}" v="32" dt="2024-10-04T08:19:53.757"/>
    <p1510:client id="{93F64E09-0BD8-4084-B58D-57447DAC937F}" v="3679" dt="2024-10-04T10:19:47.151"/>
    <p1510:client id="{C4B32289-773D-446A-BD7C-5EBEC8635AAD}" v="2409" dt="2024-10-04T07:13:46.660"/>
    <p1510:client id="{F7B7EBFF-EF50-47AD-9C4B-0613CDC26808}" v="49" dt="2024-10-04T09:55:51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5666AC-D326-229A-B6B9-59FEDFF91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IN"/>
              <a:t>qqqq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91DA8-D89D-5EFF-8E6D-ECB6B12B8A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AF83EA3-8012-4B8C-A0FE-C22A3D8E9F31}" type="datetimeFigureOut">
              <a:rPr lang="en-IN"/>
              <a:pPr>
                <a:defRPr/>
              </a:pPr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06E43-6C1C-F407-8340-C126A32F9F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853056-246D-6BCC-1FC3-F5E2677A41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258D777B-8AAA-4ED5-AE4F-8941FD66B9E4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92DA48-81B1-E5D7-C8C4-CD58CFD1FB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IN"/>
              <a:t>qqqq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075F7-67C1-A652-DF4E-8E681D1BB84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B79195F-B91B-4A10-AAD5-539521B54D88}" type="datetimeFigureOut">
              <a:rPr lang="en-IN"/>
              <a:pPr>
                <a:defRPr/>
              </a:pPr>
              <a:t>23-08-2026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6E392F9-3196-66FA-F800-C5D5E1C84B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9798356-352C-FBA6-54D6-A65ABB309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B4E98-BA33-01A8-F128-69DEE9293C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C29C9-042F-8725-8BA9-ECDAEE6D3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C8F7ABD1-1A9C-4ADC-9F75-A7ABC0AD1335}" type="slidenum">
              <a:rPr lang="en-IN" altLang="en-US"/>
              <a:pPr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4080A2D3-F598-0138-DDC1-1AC2A2562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300" y="695325"/>
            <a:ext cx="4848225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6E4F59D-1FFE-D661-82F1-4704ECF6236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Header Placeholder 1">
            <a:extLst>
              <a:ext uri="{FF2B5EF4-FFF2-40B4-BE49-F238E27FC236}">
                <a16:creationId xmlns:a16="http://schemas.microsoft.com/office/drawing/2014/main" id="{E4515315-760B-4AA8-9B2C-0EF00159932F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altLang="en-US"/>
              <a:t>qqqq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D8AD5-31EE-4D8D-FF8C-48EAEB38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4AE966-D117-41A8-9219-4CFA718C45C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08E60-9E00-FC18-76C3-19493D16C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8A83-B082-F9DF-A674-202E2BA1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2952C-9EB3-4DA5-B81A-781AFD32B9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190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8D574-852D-D9A7-A20E-E0093CDF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B71250-75D9-4118-86A2-0FCEC4354EEF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5FF9-59D2-25CD-1925-59BA6527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93A6C-2B81-1367-3824-8567B4DF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F8E54C-669A-4341-ABB8-BFF9EDDC02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910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16396-AAFB-8C70-5D2F-1F42BCB1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2AEFC-FB92-42DA-B012-7E24EED979A6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D1788-A4C2-0250-CF6E-2BA020AB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A193F-00A4-0BF8-05AD-01FF273DD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0FB77F-FB97-4E04-9180-025D34FC4A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7748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545B49-F44D-9E71-0EED-EC008059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5B84B-1841-41CC-AFE0-96FB97446FFB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D27D25-E261-304F-2416-3F5ED6AFB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D927EB7-B94E-D2E3-F6CD-8C4CE000D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11CEDB-BD3D-4C08-8125-2C3749CF38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6986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AE17AAE-82E8-48A7-D99B-0E5C7E4FD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B6B594-C076-44DF-AEEA-FBDF076FE8B1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457A683-F1C8-2BDE-E1EA-5D6B82E13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0952D50-C6B3-3DBA-A192-CA5E2ED87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FDB860-8803-4941-8360-F2DE0DF5FB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8664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E33BB49-3B62-2973-DAFB-FD47B7E2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F059A0-D2C8-4C4F-852F-E77AE953A1F9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BFEB65-3DCF-70B7-3D7A-F94C16B13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1E2AD8-7D0B-EB9D-B25D-E1F401ED6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87828-B6FA-4DDC-AE81-43CBDC74C4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82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476B871-85CB-FE53-0B01-DB43D429D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4AE9D-4D26-4162-8C3D-FC115AC565EA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19A2163-7D40-D719-3A05-08C69B28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B704949-80FC-7951-D24D-438CBC47D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874927-6A84-4569-BE32-9F3E991345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5733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8B6CAB0-4D76-7767-FF97-A8E180C52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94E1F3-B6A1-4637-AF64-C5EAB47689AF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69D97B0-1952-2E33-0AA2-E5C5F8EB3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F3FC2D-4A1E-C767-8A2C-84C1FBEED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0DA6F8-E69F-4F0A-9C26-8D6487635C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5061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E1DC94B-6278-783F-92C2-D7A21F5D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BC2FA-6F06-4781-86F8-2102F9BBE045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D646249-AFFE-0AB2-45E3-18AEE7D3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7CEA78-D0C9-A772-58ED-433B25A25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3376FE-AE29-499A-9F19-A2F6A12736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226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D26B720-FDBA-ED5C-8918-33CA5B053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566BE-98B7-4A7B-B7B4-3E091456BEB4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D9AC833-43FD-8EA1-93F6-736F0F2E5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D466FF-199A-BB24-3AFC-49030032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1B0C56-A040-436D-A07C-F0819DC136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6683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CE307-8900-B392-092C-A9B50A4D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F313C-67F8-439C-BA40-6E932C90D2EB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1FF14-A593-479F-8662-78B7801B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2B34F-55BA-C43D-88EC-A782F8DDD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3C2F38-100C-49B6-9524-3ED34840E0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9888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15458-A565-4888-E9C8-66EB9E77C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801F5C-9EA7-4F93-B0AA-B9382426132E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D00B9-A9A1-894C-FA05-752D2A5D6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8F0B3-666F-B775-311D-8D25CC9E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334682-0E9C-4E1B-AD0A-C6D98666A3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6777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9B0C-2919-E212-333D-418B423C6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AAAE6-E442-48E6-B0F0-D2BF678725B5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A6A8A-5599-315E-CB4F-AC05C74F2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083B6-332D-FF81-93D8-9F5113BBF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57C3A5-A70B-4A21-9C5D-A038D5E068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970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0B546-878D-C8BD-AAB9-15199AE8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179868-6D1D-40BD-A0B7-A939046D266B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141DD-43BA-E36B-8EBE-44FBDB08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9108B-CEF9-F67E-E1D4-47DABADE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77DC6-D5EB-423F-A9D0-615CE0A771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413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30757-FCA7-A13B-AF74-340986F09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D9B16-702F-4B3E-9A03-505E446D858C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64B01-0F72-ACE6-6EF3-95118FC2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92801-18B9-C8F1-B4D7-6F0D966D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49643A-7000-4A38-94F1-6E613987B3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207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12E9AC7-1B2C-09A5-4447-1B5F4C387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360830-12F8-456D-BD95-7BE94719977A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DABC52-AEBC-9F73-1FF6-1B019FB6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9385A9A-CF4A-4ADA-FC8D-0371B002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7D012B-17F3-4940-99F7-3FB9209894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8414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23A4D2-8CC1-504F-219B-CC252567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BE50AE-4FD7-46CF-A114-CFE41F43E3FA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EFF7297-2519-EB8C-581D-68804302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F6F4E94-D4C8-A015-5C73-63601BBF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FE73F-483B-49F8-A2EE-365AEFAEE7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13394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33FA983-DC76-1066-7424-65ECCD7C4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CBCD9-8635-475B-9E85-E28BA5833C32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9C97D28-FB82-3623-8F32-8EF07CA1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A9FE81-6D05-7DC9-CDD7-55CC9CC4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2575EF-B0EC-454B-8D65-6800BB06E7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2189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E01F784-1E64-AD52-A007-D031649DF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303FF-21AE-4EB5-9BED-E160149D933D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0CD1405-F128-C551-C134-E9F12B98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705DA02-35F2-B629-3879-71C8C01BC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B6375A-291B-497A-8142-880A540EEA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24711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76AA241-056C-FE5E-958F-374C1938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06456-E9FE-481A-AF22-FDE169D3210E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4447F7E-EC95-AACE-B1A1-C3647AAD0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DC6373C-ABC8-B737-ADC4-D9579ACA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7C858E-52DC-4598-A39C-5DA5F90A3F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9331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76AC84E-8422-1D1B-A6DA-8462166D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FA2D1-CA4D-414D-A6FE-903633C884CC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C921F26-ECA8-6D24-A0CF-42F74FE9B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490E2B5-F461-1BA5-5A42-56F16D77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AFC59E-5AA7-4321-B413-70AC82992C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5134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ED5BF-C8F5-8294-03C0-22EEBB399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0F1D4D-731B-471A-BCA7-71AE01D81603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EBD7A-A872-FFDD-5B28-DA715E9E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0911-7136-526C-E8F8-4636483A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72E5E-BAFB-47E6-AA3A-478A095A57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8624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E6E06-D97D-D222-5950-F96429E7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0690A-99DE-4166-BAA3-C1F06C4C4951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B6497-6DD6-1678-8869-2191CBB1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CC97F-9952-3DB8-14AE-42FBC4C01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F9EDD2-1F48-4703-977A-DB59814F6E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8258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03BA83C-4B6A-448E-F839-3606EA90F3B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92CE9AC-0A28-7405-8B97-E2EC3D63E6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8D307-CF15-AE1D-A009-21DFB628D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E9D9B29-44BA-47AF-9E90-D84EAA57ED33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1FBC-B956-F1A1-B218-D519FB190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60F12-4292-EEA6-C356-A4B86381E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80C5B52D-7A43-4A48-B827-85A769F8561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205AC087-88A1-C388-2C03-7D58C44EA62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41DEB184-F2EC-D9DC-B1A5-E031C6C7E6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0DF13-9B27-4B50-7A9B-66BA4184E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4584E93-C301-4560-AC18-28DFD7A62F77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CCF1A-6225-7073-E2F5-58D23AB4D3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B2041-AE2D-CC3A-03EE-28D9D608D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2B62BDD7-6BAE-443D-9311-36D55A130FB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.mysql.com/doc" TargetMode="External"/><Relationship Id="rId5" Type="http://schemas.openxmlformats.org/officeDocument/2006/relationships/hyperlink" Target="https://spring.io/projects/spring-security/" TargetMode="External"/><Relationship Id="rId4" Type="http://schemas.openxmlformats.org/officeDocument/2006/relationships/hyperlink" Target="https://spring.io/projects/spring-boot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225120-139E-C56C-EB85-87D54BAC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156" y="51960"/>
            <a:ext cx="8434724" cy="1156201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rtlCol="0" anchor="b">
            <a:norm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</a:rPr>
              <a:t>P. R. Pote (Patil) College of Engineering &amp; Management, Amravati</a:t>
            </a:r>
            <a:br>
              <a:rPr lang="en-US" sz="1600" b="1" dirty="0">
                <a:latin typeface="Cambria" pitchFamily="18" charset="0"/>
                <a:ea typeface="Cambria" pitchFamily="18" charset="0"/>
              </a:rPr>
            </a:br>
            <a:r>
              <a:rPr lang="en-US" sz="1300" b="1" dirty="0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</a:rPr>
              <a:t>(An Autonomous Institute)</a:t>
            </a:r>
            <a:br>
              <a:rPr lang="en-US" sz="1600" b="1" dirty="0">
                <a:latin typeface="Cambria" pitchFamily="18" charset="0"/>
                <a:ea typeface="Cambria" pitchFamily="18" charset="0"/>
              </a:rPr>
            </a:br>
            <a:r>
              <a:rPr lang="en-US" sz="1600" b="1" dirty="0">
                <a:solidFill>
                  <a:srgbClr val="C00000"/>
                </a:solidFill>
                <a:latin typeface="Cambria"/>
                <a:ea typeface="Cambria"/>
              </a:rPr>
              <a:t>Department of Computer Science &amp; Engineering</a:t>
            </a:r>
            <a:endParaRPr lang="en-US" sz="1600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078" name="AutoShape 9" descr="Baselius College |">
            <a:extLst>
              <a:ext uri="{FF2B5EF4-FFF2-40B4-BE49-F238E27FC236}">
                <a16:creationId xmlns:a16="http://schemas.microsoft.com/office/drawing/2014/main" id="{8A5B42F9-1EDA-0A7E-C5E0-E948909DD1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79" name="AutoShape 11" descr="Baselius College |">
            <a:extLst>
              <a:ext uri="{FF2B5EF4-FFF2-40B4-BE49-F238E27FC236}">
                <a16:creationId xmlns:a16="http://schemas.microsoft.com/office/drawing/2014/main" id="{B273A91C-C10E-9976-081F-FE8A2DB494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3080" name="Picture 12">
            <a:extLst>
              <a:ext uri="{FF2B5EF4-FFF2-40B4-BE49-F238E27FC236}">
                <a16:creationId xmlns:a16="http://schemas.microsoft.com/office/drawing/2014/main" id="{ABEE3BEE-16D3-16C6-76E1-D9485C1EC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560" y="85783"/>
            <a:ext cx="1061266" cy="1018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2" name="TextBox 3">
            <a:extLst>
              <a:ext uri="{FF2B5EF4-FFF2-40B4-BE49-F238E27FC236}">
                <a16:creationId xmlns:a16="http://schemas.microsoft.com/office/drawing/2014/main" id="{657A3B6C-429E-ED42-845F-2ACE984FF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570" y="1762993"/>
            <a:ext cx="84162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000" dirty="0">
                <a:solidFill>
                  <a:srgbClr val="C00000"/>
                </a:solidFill>
                <a:latin typeface="Algerian"/>
                <a:cs typeface="Arial"/>
              </a:rPr>
              <a:t>“Project Monitoring System”</a:t>
            </a:r>
            <a:endParaRPr lang="en-US" altLang="en-US" sz="2000" dirty="0">
              <a:solidFill>
                <a:srgbClr val="C00000"/>
              </a:solidFill>
              <a:latin typeface="Algerian"/>
            </a:endParaRPr>
          </a:p>
        </p:txBody>
      </p:sp>
      <p:sp>
        <p:nvSpPr>
          <p:cNvPr id="3083" name="TextBox 11">
            <a:extLst>
              <a:ext uri="{FF2B5EF4-FFF2-40B4-BE49-F238E27FC236}">
                <a16:creationId xmlns:a16="http://schemas.microsoft.com/office/drawing/2014/main" id="{4C421804-132B-A752-CB5D-F7C39D20E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289" y="1306765"/>
            <a:ext cx="47830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 Presentation on</a:t>
            </a:r>
          </a:p>
        </p:txBody>
      </p:sp>
      <p:sp>
        <p:nvSpPr>
          <p:cNvPr id="3084" name="TextBox 12">
            <a:extLst>
              <a:ext uri="{FF2B5EF4-FFF2-40B4-BE49-F238E27FC236}">
                <a16:creationId xmlns:a16="http://schemas.microsoft.com/office/drawing/2014/main" id="{FF927D4F-1BE0-A8C4-BC15-49946C727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54" y="2308205"/>
            <a:ext cx="8414557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>
                <a:solidFill>
                  <a:srgbClr val="0070C0"/>
                </a:solidFill>
                <a:latin typeface="Cambria"/>
                <a:ea typeface="Cambria"/>
                <a:cs typeface="Arial"/>
              </a:rPr>
              <a:t>Presented By</a:t>
            </a:r>
          </a:p>
          <a:p>
            <a:r>
              <a:rPr lang="en-US" altLang="en-US" dirty="0">
                <a:latin typeface="Cambria"/>
                <a:ea typeface="Cambria"/>
                <a:cs typeface="Arial"/>
              </a:rPr>
              <a:t>                               Miss.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Pranjali</a:t>
            </a:r>
            <a:r>
              <a:rPr lang="en-US" altLang="en-US" dirty="0">
                <a:latin typeface="Cambria"/>
                <a:ea typeface="Cambria"/>
                <a:cs typeface="Arial"/>
              </a:rPr>
              <a:t>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Bobade</a:t>
            </a:r>
            <a:r>
              <a:rPr lang="en-US" altLang="en-US" dirty="0">
                <a:latin typeface="Cambria"/>
                <a:ea typeface="Cambria"/>
                <a:cs typeface="Arial"/>
              </a:rPr>
              <a:t>                  Miss.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Prapti</a:t>
            </a:r>
            <a:r>
              <a:rPr lang="en-US" altLang="en-US" dirty="0">
                <a:latin typeface="Cambria"/>
                <a:ea typeface="Cambria"/>
                <a:cs typeface="Arial"/>
              </a:rPr>
              <a:t>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Tembhurne</a:t>
            </a:r>
            <a:r>
              <a:rPr lang="en-US" altLang="en-US" dirty="0">
                <a:latin typeface="Cambria"/>
                <a:ea typeface="Cambria"/>
                <a:cs typeface="Arial"/>
              </a:rPr>
              <a:t> 	</a:t>
            </a:r>
          </a:p>
          <a:p>
            <a:r>
              <a:rPr lang="en-US" altLang="en-US" dirty="0">
                <a:latin typeface="Cambria"/>
                <a:ea typeface="Cambria"/>
                <a:cs typeface="Arial"/>
              </a:rPr>
              <a:t>                               Miss.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Pratiksha</a:t>
            </a:r>
            <a:r>
              <a:rPr lang="en-US" altLang="en-US" dirty="0">
                <a:latin typeface="Cambria"/>
                <a:ea typeface="Cambria"/>
                <a:cs typeface="Arial"/>
              </a:rPr>
              <a:t>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Daberao</a:t>
            </a:r>
            <a:r>
              <a:rPr lang="en-US" altLang="en-US" dirty="0">
                <a:latin typeface="Cambria"/>
                <a:ea typeface="Cambria"/>
                <a:cs typeface="Arial"/>
              </a:rPr>
              <a:t>             Miss. Rani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Hingawe</a:t>
            </a:r>
            <a:endParaRPr lang="en-US" altLang="en-US" dirty="0">
              <a:latin typeface="Cambria" panose="02040503050406030204" pitchFamily="18" charset="0"/>
              <a:ea typeface="Cambria"/>
            </a:endParaRPr>
          </a:p>
          <a:p>
            <a:r>
              <a:rPr lang="en-US" altLang="en-US" dirty="0">
                <a:latin typeface="Cambria"/>
                <a:ea typeface="Cambria"/>
                <a:cs typeface="Arial"/>
              </a:rPr>
              <a:t>                               Miss.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Rutuja</a:t>
            </a:r>
            <a:r>
              <a:rPr lang="en-US" altLang="en-US" dirty="0">
                <a:latin typeface="Cambria"/>
                <a:ea typeface="Cambria"/>
                <a:cs typeface="Arial"/>
              </a:rPr>
              <a:t>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Khandekar</a:t>
            </a:r>
            <a:r>
              <a:rPr lang="en-US" altLang="en-US" dirty="0">
                <a:latin typeface="Cambria"/>
                <a:ea typeface="Cambria"/>
                <a:cs typeface="Arial"/>
              </a:rPr>
              <a:t>              Miss. Sai Kadu </a:t>
            </a:r>
            <a:endParaRPr lang="en-US" altLang="en-US" dirty="0">
              <a:latin typeface="Cambria" panose="02040503050406030204" pitchFamily="18" charset="0"/>
              <a:ea typeface="Cambria"/>
            </a:endParaRPr>
          </a:p>
          <a:p>
            <a:r>
              <a:rPr lang="en-US" altLang="en-US" dirty="0">
                <a:latin typeface="Cambria"/>
                <a:ea typeface="Cambria"/>
                <a:cs typeface="Arial"/>
              </a:rPr>
              <a:t>                               Miss. Savari Sable 		Miss. Shradha Parihar </a:t>
            </a:r>
            <a:endParaRPr lang="en-US" altLang="en-US" dirty="0">
              <a:latin typeface="Cambria" panose="02040503050406030204" pitchFamily="18" charset="0"/>
              <a:ea typeface="Cambria"/>
            </a:endParaRPr>
          </a:p>
          <a:p>
            <a:r>
              <a:rPr lang="en-US" altLang="en-US" dirty="0">
                <a:latin typeface="Cambria"/>
                <a:ea typeface="Cambria"/>
                <a:cs typeface="Arial"/>
              </a:rPr>
              <a:t>                               Miss.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Shrushti</a:t>
            </a:r>
            <a:r>
              <a:rPr lang="en-US" altLang="en-US" dirty="0">
                <a:latin typeface="Cambria"/>
                <a:ea typeface="Cambria"/>
                <a:cs typeface="Arial"/>
              </a:rPr>
              <a:t> Pandit 	Miss.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Srushti</a:t>
            </a:r>
            <a:r>
              <a:rPr lang="en-US" altLang="en-US" dirty="0">
                <a:latin typeface="Cambria"/>
                <a:ea typeface="Cambria"/>
                <a:cs typeface="Arial"/>
              </a:rPr>
              <a:t>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Bhokare</a:t>
            </a:r>
            <a:r>
              <a:rPr lang="en-US" altLang="en-US" dirty="0">
                <a:latin typeface="Cambria"/>
                <a:ea typeface="Cambria"/>
                <a:cs typeface="Arial"/>
              </a:rPr>
              <a:t> </a:t>
            </a:r>
            <a:endParaRPr lang="en-US" altLang="en-US" dirty="0">
              <a:latin typeface="Cambria" panose="02040503050406030204" pitchFamily="18" charset="0"/>
              <a:ea typeface="Cambria"/>
            </a:endParaRPr>
          </a:p>
          <a:p>
            <a:pPr algn="ctr"/>
            <a:endParaRPr lang="en-US" altLang="en-US" dirty="0">
              <a:latin typeface="Cambria" panose="02040503050406030204" pitchFamily="18" charset="0"/>
              <a:ea typeface="Cambria"/>
            </a:endParaRPr>
          </a:p>
        </p:txBody>
      </p:sp>
      <p:sp>
        <p:nvSpPr>
          <p:cNvPr id="3085" name="TextBox 13">
            <a:extLst>
              <a:ext uri="{FF2B5EF4-FFF2-40B4-BE49-F238E27FC236}">
                <a16:creationId xmlns:a16="http://schemas.microsoft.com/office/drawing/2014/main" id="{51D0F330-6E70-4FD2-64AF-582F5DEA9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8519" y="4321354"/>
            <a:ext cx="23669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b="1" dirty="0">
                <a:solidFill>
                  <a:srgbClr val="C00000"/>
                </a:solidFill>
                <a:latin typeface="Cambria"/>
                <a:ea typeface="Cambria"/>
                <a:cs typeface="Arial"/>
              </a:rPr>
              <a:t>Guided By</a:t>
            </a:r>
          </a:p>
          <a:p>
            <a:pPr algn="ctr"/>
            <a:r>
              <a:rPr lang="en-US" altLang="en-US" dirty="0">
                <a:latin typeface="Cambria"/>
                <a:ea typeface="Cambria"/>
                <a:cs typeface="Arial"/>
              </a:rPr>
              <a:t>Prof. A. D. </a:t>
            </a:r>
            <a:r>
              <a:rPr lang="en-US" altLang="en-US" dirty="0" err="1">
                <a:latin typeface="Cambria"/>
                <a:ea typeface="Cambria"/>
                <a:cs typeface="Arial"/>
              </a:rPr>
              <a:t>Chokhat</a:t>
            </a:r>
            <a:r>
              <a:rPr lang="en-US" altLang="en-US" dirty="0">
                <a:latin typeface="Cambria"/>
                <a:ea typeface="Cambria"/>
                <a:cs typeface="Arial"/>
              </a:rPr>
              <a:t> </a:t>
            </a:r>
            <a:endParaRPr lang="en-US" altLang="en-US" dirty="0">
              <a:latin typeface="Cambria" panose="02040503050406030204" pitchFamily="18" charset="0"/>
              <a:ea typeface="Cambria"/>
            </a:endParaRPr>
          </a:p>
        </p:txBody>
      </p:sp>
      <p:sp>
        <p:nvSpPr>
          <p:cNvPr id="3086" name="TextBox 6">
            <a:extLst>
              <a:ext uri="{FF2B5EF4-FFF2-40B4-BE49-F238E27FC236}">
                <a16:creationId xmlns:a16="http://schemas.microsoft.com/office/drawing/2014/main" id="{ABE6AD2A-7C4A-8CDF-DE73-E93539892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7722" y="6353989"/>
            <a:ext cx="1976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>
                <a:latin typeface="Cambria" panose="02040503050406030204" pitchFamily="18" charset="0"/>
              </a:rPr>
              <a:t>Year 2026-27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C30BE8-A770-450A-86EE-49B0EF083B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56" y="122993"/>
            <a:ext cx="1061266" cy="10189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05A5B0-CEB9-41A6-B37D-1A1FABE6EC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781" y="4967467"/>
            <a:ext cx="1418438" cy="1435639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3">
            <a:extLst>
              <a:ext uri="{FF2B5EF4-FFF2-40B4-BE49-F238E27FC236}">
                <a16:creationId xmlns:a16="http://schemas.microsoft.com/office/drawing/2014/main" id="{A5E92681-6806-D6F0-98A8-D74B2C7276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19400" y="2087859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81DE31AD-22FA-5893-7A15-FF22711E3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30" y="1147297"/>
            <a:ext cx="8219470" cy="534721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Literature Survey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Methodology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Application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Advantages and Disadvantages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Implications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Limitations and Future Scope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References</a:t>
            </a:r>
          </a:p>
        </p:txBody>
      </p:sp>
      <p:sp>
        <p:nvSpPr>
          <p:cNvPr id="4100" name="Title 1">
            <a:extLst>
              <a:ext uri="{FF2B5EF4-FFF2-40B4-BE49-F238E27FC236}">
                <a16:creationId xmlns:a16="http://schemas.microsoft.com/office/drawing/2014/main" id="{E3C1EE19-EF9F-FCA4-F87F-5055F8E2C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20A1B-86E4-4E0E-9DBD-E719F11C9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2257" y="6475175"/>
            <a:ext cx="4462818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PRPCEM/CSE Department/Mini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5334000"/>
          </a:xfrm>
          <a:ln>
            <a:noFill/>
          </a:ln>
        </p:spPr>
        <p:txBody>
          <a:bodyPr/>
          <a:lstStyle/>
          <a:p>
            <a:pPr algn="just" eaLnBrk="1" hangingPunct="1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project tracking depends on paper records and spreadsheets, which can result in lost submission history, delayed feedback, and manual errors.</a:t>
            </a:r>
          </a:p>
          <a:p>
            <a:pPr algn="just" eaLnBrk="1" hangingPunct="1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and HODs often lack centralized visibility into project milestones, student progress, guide reviews, and pending activities.</a:t>
            </a:r>
          </a:p>
          <a:p>
            <a:pPr algn="just" eaLnBrk="1" hangingPunct="1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Monitoring System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role-based web application that connects the Project Head, Guides, and Students on a single platform.</a:t>
            </a:r>
          </a:p>
          <a:p>
            <a:pPr algn="just" eaLnBrk="1" hangingPunct="1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the complete project lifecycle: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Allocation → Synopsis Submission → Guide Review → Project Development → Progress Reports → Presentations → Final Report → Completion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real-time status updates, feedback, and notifications across all stakeholders.</a:t>
            </a:r>
          </a:p>
          <a:p>
            <a:pPr algn="just" eaLnBrk="1" hangingPunct="1">
              <a:defRPr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developed using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React.js, HTML, CSS, JavaScript, Spring Boot, and MySQL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6FE4DA-D02E-4637-A1D4-02CF243F9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29051" y="6500836"/>
            <a:ext cx="5774140" cy="365125"/>
          </a:xfrm>
        </p:spPr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22D82015-D19E-490F-B1F2-22E6FCDC14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1420565"/>
              </p:ext>
            </p:extLst>
          </p:nvPr>
        </p:nvGraphicFramePr>
        <p:xfrm>
          <a:off x="469900" y="1358900"/>
          <a:ext cx="8166100" cy="48527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11892">
                  <a:extLst>
                    <a:ext uri="{9D8B030D-6E8A-4147-A177-3AD203B41FA5}">
                      <a16:colId xmlns:a16="http://schemas.microsoft.com/office/drawing/2014/main" val="3533100084"/>
                    </a:ext>
                  </a:extLst>
                </a:gridCol>
                <a:gridCol w="5254208">
                  <a:extLst>
                    <a:ext uri="{9D8B030D-6E8A-4147-A177-3AD203B41FA5}">
                      <a16:colId xmlns:a16="http://schemas.microsoft.com/office/drawing/2014/main" val="1627025039"/>
                    </a:ext>
                  </a:extLst>
                </a:gridCol>
              </a:tblGrid>
              <a:tr h="524578">
                <a:tc>
                  <a:txBody>
                    <a:bodyPr/>
                    <a:lstStyle/>
                    <a:p>
                      <a:pPr algn="just"/>
                      <a:r>
                        <a:rPr lang="en-US" sz="2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903678"/>
                  </a:ext>
                </a:extLst>
              </a:tr>
              <a:tr h="99795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Manual/Paper-Based Systems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 are maintained physically, with no proper backup, real-time visibility, or centralized access.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236103"/>
                  </a:ext>
                </a:extLst>
              </a:tr>
              <a:tr h="99795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Spreadsheet-Based Tracking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organization but lacks role-based access, automation, and validation, resulting in manual errors.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914208"/>
                  </a:ext>
                </a:extLst>
              </a:tr>
              <a:tr h="130035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Generic LMS/ERP Platforms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Platforms such as Moodle and Google Classroom support content sharing but lack guide allocation, milestone review, and presentation scheduling features.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934880"/>
                  </a:ext>
                </a:extLst>
              </a:tr>
              <a:tr h="99795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Academic Portals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support only students or administrators and do not connect the Project Head, Guide, and Student in one workflow.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851298"/>
                  </a:ext>
                </a:extLst>
              </a:tr>
            </a:tbl>
          </a:graphicData>
        </a:graphic>
      </p:graphicFrame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Literature Survey 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52B65B-95CB-4BF6-A0A9-7B723A55D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2871649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5334000"/>
          </a:xfrm>
          <a:ln>
            <a:noFill/>
          </a:ln>
        </p:spPr>
        <p:txBody>
          <a:bodyPr/>
          <a:lstStyle/>
          <a:p>
            <a:pPr algn="just" eaLnBrk="1" hangingPunct="1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 → REST API → Spring Boot → MySQL.</a:t>
            </a:r>
          </a:p>
          <a:p>
            <a:pPr algn="just" eaLnBrk="1" hangingPunct="1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Layered structure using Controller, Service, Repository, and Entity for maintainability.</a:t>
            </a:r>
          </a:p>
          <a:p>
            <a:pPr algn="just" eaLnBrk="1" hangingPunct="1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Head allocates guides; students submit reports; guides review and verify submissions.</a:t>
            </a:r>
          </a:p>
          <a:p>
            <a:pPr algn="just" eaLnBrk="1" hangingPunct="1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and guides receive updates on submissions, reviews, corrections, and project progress</a:t>
            </a:r>
          </a:p>
          <a:p>
            <a:pPr algn="just" eaLnBrk="1" hangingPunct="1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Security with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 and role-based access.</a:t>
            </a:r>
          </a:p>
          <a:p>
            <a:pPr algn="just" eaLnBrk="1" hangingPunct="1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stores users, projects, milestones, submissions, and presentations</a:t>
            </a:r>
          </a:p>
          <a:p>
            <a:pPr algn="just" eaLnBrk="1" hangingPunct="1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Setup → Authentication → Dashboards → Core Modules → Testing → Deployment.</a:t>
            </a:r>
          </a:p>
          <a:p>
            <a:pPr marL="0" indent="0" algn="just" eaLnBrk="1" hangingPunct="1">
              <a:buNone/>
              <a:defRPr/>
            </a:pP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Methodology 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BA7EFB-786C-4E9B-8C90-8EB0EF79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352943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5334000"/>
          </a:xfrm>
          <a:ln>
            <a:noFill/>
          </a:ln>
        </p:spPr>
        <p:txBody>
          <a:bodyPr/>
          <a:lstStyle/>
          <a:p>
            <a:pPr marL="0" indent="0" eaLnBrk="1" hangingPunct="1">
              <a:buNone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-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08876C-625F-4E64-840A-177B4672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B3D653-7D44-4210-9A27-6DDC6CC4F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4099"/>
            <a:ext cx="9144000" cy="494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18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5334000"/>
          </a:xfrm>
          <a:ln>
            <a:noFill/>
          </a:ln>
        </p:spPr>
        <p:txBody>
          <a:bodyPr/>
          <a:lstStyle/>
          <a:p>
            <a:pPr algn="just" eaLnBrk="1" hangingPunct="1">
              <a:defRPr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and Technical Colleges: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mini and major projects, synopsis submissions, and guide–student coordination.</a:t>
            </a:r>
          </a:p>
          <a:p>
            <a:pPr algn="just" eaLnBrk="1" hangingPunct="1">
              <a:defRPr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Monitoring: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HODs track project progress, milestones, deadlines, and guide workload.</a:t>
            </a:r>
          </a:p>
          <a:p>
            <a:pPr algn="just" eaLnBrk="1" hangingPunct="1">
              <a:defRPr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Guide–Student Collaboration: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Centralize feedback, corrections, notifications, and communication without relying on email or manual follow-up.</a:t>
            </a:r>
          </a:p>
          <a:p>
            <a:pPr algn="just" eaLnBrk="1" hangingPunct="1">
              <a:defRPr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Reporting: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structured project records for accreditation and academic audits.</a:t>
            </a:r>
          </a:p>
          <a:p>
            <a:pPr algn="just" eaLnBrk="1" hangingPunct="1">
              <a:defRPr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Extendable Model: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 the role-based structure for internship tracking, research supervision, and other academic activities.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Application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08876C-625F-4E64-840A-177B4672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30896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85787EE7-F262-41CE-9A48-BC17D85EAC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607197"/>
              </p:ext>
            </p:extLst>
          </p:nvPr>
        </p:nvGraphicFramePr>
        <p:xfrm>
          <a:off x="381000" y="1117600"/>
          <a:ext cx="8229600" cy="5055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2803">
                  <a:extLst>
                    <a:ext uri="{9D8B030D-6E8A-4147-A177-3AD203B41FA5}">
                      <a16:colId xmlns:a16="http://schemas.microsoft.com/office/drawing/2014/main" val="4185169941"/>
                    </a:ext>
                  </a:extLst>
                </a:gridCol>
                <a:gridCol w="4146797">
                  <a:extLst>
                    <a:ext uri="{9D8B030D-6E8A-4147-A177-3AD203B41FA5}">
                      <a16:colId xmlns:a16="http://schemas.microsoft.com/office/drawing/2014/main" val="3003367172"/>
                    </a:ext>
                  </a:extLst>
                </a:gridCol>
              </a:tblGrid>
              <a:tr h="544729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420450"/>
                  </a:ext>
                </a:extLst>
              </a:tr>
              <a:tr h="69927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records — replaces scattered paperwork and spreadsheets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public registration — accounts must be pre-created by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450267"/>
                  </a:ext>
                </a:extLst>
              </a:tr>
              <a:tr h="1003314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and offline submission tracking with proof of submission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email/SMS/OTP integration — password recovery needs manual intervention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600552"/>
                  </a:ext>
                </a:extLst>
              </a:tr>
              <a:tr h="69927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 verification with correction history and version tracking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stable internet access to use the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65799"/>
                  </a:ext>
                </a:extLst>
              </a:tr>
              <a:tr h="69927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Role-based access ensures data visibility only where needed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storage needs regular maintenance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49886"/>
                  </a:ext>
                </a:extLst>
              </a:tr>
              <a:tr h="69927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notifications and in-app communication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 need initial training to adopt the new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460034"/>
                  </a:ext>
                </a:extLst>
              </a:tr>
              <a:tr h="69927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 and analytics support better decision-making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425781"/>
                  </a:ext>
                </a:extLst>
              </a:tr>
            </a:tbl>
          </a:graphicData>
        </a:graphic>
      </p:graphicFrame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Advantages and Disadvantages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854E16-4FE4-40B7-B6B2-6E4DC5F5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373047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5334000"/>
          </a:xfrm>
          <a:ln>
            <a:noFill/>
          </a:ln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Institutions: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Shifts project evaluation from a manual, paper-driven process to a transparent, digitally governed one — a model other departments could adopt</a:t>
            </a:r>
          </a:p>
          <a:p>
            <a:pPr marL="0" indent="0" eaLnBrk="1" hangingPunct="1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Guides: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informal, ad-hoc tracking (WhatsApp/email/verbal updates) with a structured, accountable review process</a:t>
            </a:r>
          </a:p>
          <a:p>
            <a:pPr marL="0" indent="0" eaLnBrk="1" hangingPunct="1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Students: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Encourages timely submissions and better documentation habits, since every action is recorded and visible</a:t>
            </a:r>
          </a:p>
          <a:p>
            <a:pPr marL="0" indent="0" eaLnBrk="1" hangingPunct="1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Software Practice: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practical application of role-based access control and layered architecture in a real academic use case</a:t>
            </a:r>
          </a:p>
          <a:p>
            <a:pPr marL="0" indent="0" eaLnBrk="1" hangingPunct="1">
              <a:buNone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Broader Relevance: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Reflects a growing shift toward digital, ERP-style systems in education — relevant beyond just project monitoring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Implications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19DE4A-8DE0-43BD-8D61-2335FC20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624907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1100"/>
            <a:ext cx="8153400" cy="5295900"/>
          </a:xfrm>
          <a:ln>
            <a:noFill/>
          </a:ln>
        </p:spPr>
        <p:txBody>
          <a:bodyPr numCol="1"/>
          <a:lstStyle/>
          <a:p>
            <a:pPr marL="0" indent="0" algn="just" rtl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pre-created accounts — no self-registration for new users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recovery depends on manual intervention by management (no OTP/email reset)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functionality depends on stable internet connectivity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files require ongoing storage management and maintenance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users require basic training to adopt the system</a:t>
            </a:r>
          </a:p>
          <a:p>
            <a:pPr marL="0" indent="0" eaLnBrk="1" hangingPunct="1">
              <a:buNone/>
              <a:defRPr/>
            </a:pP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Limitations and Future Scope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19DE4A-8DE0-43BD-8D61-2335FC20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2689203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1100"/>
            <a:ext cx="8153400" cy="5295900"/>
          </a:xfrm>
          <a:ln>
            <a:noFill/>
          </a:ln>
        </p:spPr>
        <p:txBody>
          <a:bodyPr numCol="1"/>
          <a:lstStyle/>
          <a:p>
            <a:pPr marL="0" indent="0" algn="just" rtl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extend access beyond desktop/web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Insights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predictive tracking of delays and student performance trends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Project Timelines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Gantt-style charts for milestone planning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Detection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automated originality checks on submitted reports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ERP/LMS Integration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connect with existing institutional systems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enable formal, paperless approvals</a:t>
            </a:r>
          </a:p>
          <a:p>
            <a:pPr marL="0" indent="0" eaLnBrk="1" hangingPunct="1">
              <a:buNone/>
              <a:defRPr/>
            </a:pP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Limitations and Future Scope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19DE4A-8DE0-43BD-8D61-2335FC20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1314684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2728398-8A6A-2A88-B906-AFFB236F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153400" cy="5334000"/>
          </a:xfrm>
          <a:ln>
            <a:noFill/>
          </a:ln>
        </p:spPr>
        <p:txBody>
          <a:bodyPr/>
          <a:lstStyle/>
          <a:p>
            <a:pPr eaLnBrk="1" hangingPunct="1"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– Official Documentation,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https://react.dev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– Official Documentation,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https://spring.io/projects/spring-boot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– Reference Documentation,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https://spring.io/projects/spring-security\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– Reference Manual,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https://dev.mysql.com/doc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Ferraiolo, D. F., Kuhn, D. R.,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Chandramouli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—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Artech House, 2007\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"Design of Web-Based Project Management System with Multi-Level Role-Based Access Control," Journal of Computer Science and Informatics Engineering, 2024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Title 1">
            <a:extLst>
              <a:ext uri="{FF2B5EF4-FFF2-40B4-BE49-F238E27FC236}">
                <a16:creationId xmlns:a16="http://schemas.microsoft.com/office/drawing/2014/main" id="{6AE7C114-777C-B0F8-DEFC-B6B3B92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563563"/>
          </a:xfrm>
          <a:solidFill>
            <a:srgbClr val="002060"/>
          </a:solidFill>
        </p:spPr>
        <p:txBody>
          <a:bodyPr/>
          <a:lstStyle/>
          <a:p>
            <a:pPr lvl="0"/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References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CE5A28-5CA0-4C8E-94A9-81EA8FDA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</p:spTree>
    <p:extLst>
      <p:ext uri="{BB962C8B-B14F-4D97-AF65-F5344CB8AC3E}">
        <p14:creationId xmlns:p14="http://schemas.microsoft.com/office/powerpoint/2010/main" val="2163251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>
            <a:extLst>
              <a:ext uri="{FF2B5EF4-FFF2-40B4-BE49-F238E27FC236}">
                <a16:creationId xmlns:a16="http://schemas.microsoft.com/office/drawing/2014/main" id="{04B821EE-8E64-158D-6A88-E277EEE9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32868" y="1635173"/>
            <a:ext cx="3878263" cy="39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CE5A28-5CA0-4C8E-94A9-81EA8FDA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PRPCEM/CSE Department/Mini Project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58D09D-AA51-4D95-B266-81C2B0C19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72956"/>
            <a:ext cx="8229600" cy="5853208"/>
          </a:xfrm>
        </p:spPr>
        <p:txBody>
          <a:bodyPr/>
          <a:lstStyle/>
          <a:p>
            <a:pPr marL="0" indent="0" algn="ctr">
              <a:buNone/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2780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1075</Words>
  <Application>Microsoft Office PowerPoint</Application>
  <PresentationFormat>On-screen Show (4:3)</PresentationFormat>
  <Paragraphs>113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Calibri</vt:lpstr>
      <vt:lpstr>Cambria</vt:lpstr>
      <vt:lpstr>Times New Roman</vt:lpstr>
      <vt:lpstr>Office Theme</vt:lpstr>
      <vt:lpstr>Custom Design</vt:lpstr>
      <vt:lpstr>P. R. Pote (Patil) College of Engineering &amp; Management, Amravati (An Autonomous Institute) Department of Computer Science &amp; Engineering</vt:lpstr>
      <vt:lpstr>Contents</vt:lpstr>
      <vt:lpstr>1. Introduction</vt:lpstr>
      <vt:lpstr>2. Literature Survey </vt:lpstr>
      <vt:lpstr>3. Methodology </vt:lpstr>
      <vt:lpstr>Methodology - System Architecture</vt:lpstr>
      <vt:lpstr>4. Application</vt:lpstr>
      <vt:lpstr>5. Advantages and Disadvantages</vt:lpstr>
      <vt:lpstr>6. Implications</vt:lpstr>
      <vt:lpstr>7. Limitations and Future Scope</vt:lpstr>
      <vt:lpstr> Limitations and Future Scope</vt:lpstr>
      <vt:lpstr>8.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 Breaker Testing</dc:title>
  <dc:creator>sanjay</dc:creator>
  <cp:lastModifiedBy>savari Sable</cp:lastModifiedBy>
  <cp:revision>28</cp:revision>
  <dcterms:created xsi:type="dcterms:W3CDTF">2017-08-21T04:34:30Z</dcterms:created>
  <dcterms:modified xsi:type="dcterms:W3CDTF">2026-08-23T17:08:12Z</dcterms:modified>
</cp:coreProperties>
</file>